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D5A80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AgentCollab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面向银行研发的可控 AI 协作治理平台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2286000" cy="2743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 AI 提升研发效率，同时确保每一次修改可控、可审、可追溯、可回退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银行创新项目答辩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通用 AI 编程工具进入银行研发场景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以下 6 个问题，传统工具无法回答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86868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谁向 AI 提出了什么要求？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931920" cy="86868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24328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24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42316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查看和修改了哪些文件？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931920" cy="86868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75888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75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47472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为什么做出这项修改？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3931920" cy="86868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572768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5727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137160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修改经过了哪些安全检查？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3931920" cy="86868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624328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624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42316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谁审查并批准了这项变更？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3931920" cy="86868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675888"/>
            <a:ext cx="45720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75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347472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出现问题时能否快速定位和恢复？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如果无法回答上述问题，AI 生成的代码就很难直接进入银行研发流程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银行研发场景中的五大核心痛点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0624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0624" y="1234440"/>
            <a:ext cx="157276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63040"/>
            <a:ext cx="15727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12064" y="205740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过程治理缺失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78408" y="2560320"/>
            <a:ext cx="4572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697480"/>
            <a:ext cx="129844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 AI 工具关注效率，缺少指令记录、执行追踪和审批留痕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234440"/>
            <a:ext cx="157276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463040"/>
            <a:ext cx="15727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审查效率较低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60904" y="2560320"/>
            <a:ext cx="4572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697480"/>
            <a:ext cx="129844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人工逐行检查，重复劳动多，质量受个人经验影响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85616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234440"/>
            <a:ext cx="157276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1463040"/>
            <a:ext cx="15727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877056" y="205740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安全规范散落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43400" y="2560320"/>
            <a:ext cx="4572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22776" y="2697480"/>
            <a:ext cx="129844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制度文件、历史缺陷、个人经验难以统一复用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68112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68112" y="1234440"/>
            <a:ext cx="157276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1463040"/>
            <a:ext cx="15727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559552" y="205740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修改不可控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25896" y="2560320"/>
            <a:ext cx="4572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2697480"/>
            <a:ext cx="129844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直接改主分支，多任务覆盖，未审查代码进入正式版本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50608" y="1234440"/>
            <a:ext cx="157276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1234440"/>
            <a:ext cx="157276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463040"/>
            <a:ext cx="15727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242048" y="205740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责任链断裂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08392" y="2560320"/>
            <a:ext cx="4572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2697480"/>
            <a:ext cx="129844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需求、代码、审查、审批分散在不同系统，难以追溯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痛点详解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人工审查效率低 × 安全规范依赖个人记忆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329184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人工代码审查效率较低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20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重复性检查耗费大量时间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23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审查质量受个人经验影响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260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安全问题可能被遗漏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29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多人审查意见难以统一汇总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31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项目规模扩大后审查压力持续增加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34440"/>
            <a:ext cx="54864" cy="329184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安全规范依赖个人记忆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银行内部的安全知识散落在多处，难以统一复用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240280"/>
            <a:ext cx="3200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2402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2402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制度文件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679192"/>
            <a:ext cx="3200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67919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6791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项目文档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118104"/>
            <a:ext cx="3200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11810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11810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历史缺陷记录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557016"/>
            <a:ext cx="3200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55701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55701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审查人员个人经验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3995928"/>
            <a:ext cx="3200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9959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94960" y="3995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聊天记录和会议纪要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114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新员工难以快速掌握，同类问题在不同项目中重复出现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痛点详解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修改不可控 × 变更责任链不完整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329184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修改代码存在不可控风险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如果 AI 可以直接修改主分支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94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多个任务相互覆盖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517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未审查代码进入正式版本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08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错误修改影响其他开发人员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566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安全问题随代码一同发布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23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出现故障时难以恢复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34440"/>
            <a:ext cx="54864" cy="329184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变更责任链不完整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传统工具数据分散在不同系统中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331720"/>
            <a:ext cx="64008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317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谁提出需求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95544" y="233172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05272" y="2331720"/>
            <a:ext cx="64008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23317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执行什么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08776" y="233172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18504" y="2331720"/>
            <a:ext cx="64008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23317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发现哪些风险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22008" y="233172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31736" y="2331720"/>
            <a:ext cx="64008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1736" y="23317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谁作审批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35240" y="233172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44968" y="2331720"/>
            <a:ext cx="64008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44968" y="23317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产生什么影响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难以快速还原完整变更过程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3291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问题定位和责任追溯效率低下，审计合规难度大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我们的解决方案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 AI 在银行可控的研发治理框架下安全工作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097280" cy="237744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097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创建任务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834640"/>
            <a:ext cx="950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人工提交研发需求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99032" y="2468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54480" y="1463040"/>
            <a:ext cx="1097280" cy="237744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54480" y="1463040"/>
            <a:ext cx="109728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73736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2423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27632" y="2834640"/>
            <a:ext cx="950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分析并生成代码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33472" y="2468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88920" y="1463040"/>
            <a:ext cx="1097280" cy="237744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88920" y="1463040"/>
            <a:ext cx="109728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3240" y="173736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834640" y="2423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代码审查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62072" y="2834640"/>
            <a:ext cx="950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 + 安全双重检查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67912" y="2468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23360" y="1463040"/>
            <a:ext cx="1097280" cy="237744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23360" y="1463040"/>
            <a:ext cx="109728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069080" y="2423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安全门禁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96512" y="2834640"/>
            <a:ext cx="950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确定性工具自动扫描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02352" y="2468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57800" y="1463040"/>
            <a:ext cx="1097280" cy="237744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57800" y="1463040"/>
            <a:ext cx="109728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32120" y="173736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03520" y="2423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多人复核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30952" y="2834640"/>
            <a:ext cx="950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经办—复核分离决策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36792" y="2468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92240" y="1463040"/>
            <a:ext cx="1097280" cy="237744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92240" y="1463040"/>
            <a:ext cx="109728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173736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37960" y="2423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合并记录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65392" y="2834640"/>
            <a:ext cx="950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审批后合并并归档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71232" y="2468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726680" y="1463040"/>
            <a:ext cx="1097280" cy="2377440"/>
          </a:xfrm>
          <a:prstGeom prst="rect">
            <a:avLst/>
          </a:prstGeom>
          <a:solidFill>
            <a:srgbClr val="121B33"/>
          </a:solidFill>
          <a:ln w="6350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726680" y="1463040"/>
            <a:ext cx="109728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01000" y="173736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0100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772400" y="2423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审计追溯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799832" y="2834640"/>
            <a:ext cx="9509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全链路可查可回退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核心不是让 AI 自动写代码，而是把 AI 能力嵌入银行可控的研发治理流程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创新点 1：多 Agent 职责分离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不是让一个模型同时写代码并给自己打分，而是通过职责分离形成交叉检查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640080" cy="411480"/>
          </a:xfrm>
          <a:prstGeom prst="rect">
            <a:avLst/>
          </a:prstGeom>
          <a:solidFill>
            <a:srgbClr val="E8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5A8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代码生成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分析任务并生成或修改代码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19202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691640"/>
            <a:ext cx="640080" cy="411480"/>
          </a:xfrm>
          <a:prstGeom prst="rect">
            <a:avLst/>
          </a:prstGeom>
          <a:solidFill>
            <a:srgbClr val="EAF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6916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44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22860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代码审查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78892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检查逻辑、可读性、规范和潜在 Bug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9202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691640"/>
            <a:ext cx="640080" cy="411480"/>
          </a:xfrm>
          <a:prstGeom prst="rect">
            <a:avLst/>
          </a:prstGeom>
          <a:solidFill>
            <a:srgbClr val="FD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916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安全审查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78892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检查注入、越权、敏感信息和不安全配置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19202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B8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691640"/>
            <a:ext cx="640080" cy="411480"/>
          </a:xfrm>
          <a:prstGeom prst="rect">
            <a:avLst/>
          </a:prstGeom>
          <a:solidFill>
            <a:srgbClr val="FEF9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6916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0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22860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汇总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2788920"/>
            <a:ext cx="1554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汇总审查结论并按严重程度输出报告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69080"/>
            <a:ext cx="54864" cy="54864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创新重点不是模型数量，而是通过职责分离让不同 Agent 从不同角度交叉检查，再由人工作出最终决定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创新点 2：AI 与人工协同决策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与银行业务中的「经办—复核」思想具有较高契合度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237744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职责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91440" cy="914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生成代码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91440" cy="914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957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检查逻辑与规范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71216"/>
            <a:ext cx="91440" cy="914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7977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扫描安全风险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55264"/>
            <a:ext cx="91440" cy="914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638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汇总审查报告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39312"/>
            <a:ext cx="91440" cy="914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478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提供修改建议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0540" y="2080260"/>
            <a:ext cx="502920" cy="5029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0540" y="20802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协同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325880"/>
            <a:ext cx="3840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25880"/>
            <a:ext cx="54864" cy="2377440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508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人工职责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2103120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0116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指定复核人员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2487168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3957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设置法定通过人数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2871216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77977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配置驳回一票否决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3255264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1638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填写驳回原因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3639312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5478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最终审批决策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未经人工批准的代码不能进入主分支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创新点 3：隔离式代码执行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每项任务都在独立 Git 分支和工作树中执行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840480" cy="73152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2743200"/>
            <a:ext cx="256032" cy="256032"/>
          </a:xfrm>
          <a:prstGeom prst="ellipse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主分支 master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463040"/>
            <a:ext cx="274320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280160"/>
            <a:ext cx="2286000" cy="32004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2801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 A 独立工作树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54864" cy="1371600"/>
          </a:xfrm>
          <a:prstGeom prst="rect">
            <a:avLst/>
          </a:prstGeom>
          <a:solidFill>
            <a:srgbClr val="3D5A8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057400"/>
            <a:ext cx="274320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874520"/>
            <a:ext cx="228600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8745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 B 独立工作树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057400"/>
            <a:ext cx="54864" cy="777240"/>
          </a:xfrm>
          <a:prstGeom prst="rect">
            <a:avLst/>
          </a:prstGeom>
          <a:solidFill>
            <a:srgbClr val="1E8449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2651760"/>
            <a:ext cx="2743200" cy="54864"/>
          </a:xfrm>
          <a:prstGeom prst="rect">
            <a:avLst/>
          </a:prstGeom>
          <a:solidFill>
            <a:srgbClr val="B8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2468880"/>
            <a:ext cx="2286000" cy="320040"/>
          </a:xfrm>
          <a:prstGeom prst="rect">
            <a:avLst/>
          </a:prstGeom>
          <a:solidFill>
            <a:srgbClr val="B8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4688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 C 独立工作树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2651760"/>
            <a:ext cx="54864" cy="182880"/>
          </a:xfrm>
          <a:prstGeom prst="rect">
            <a:avLst/>
          </a:prstGeom>
          <a:solidFill>
            <a:srgbClr val="B8902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325880"/>
            <a:ext cx="3840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25880"/>
            <a:ext cx="54864" cy="3200400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508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隔离带来的价值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0" y="2148840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057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不同任务互不影响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2606040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5146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无法直接污染主分支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3063240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人工可在合并前查看完整 Diff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3520440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429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驳回后可继续在原分支修改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3977640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38862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任务终止后可清理对应分支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创新点 4：全链路审计责任链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串联一次变更的完整过程，提高问题定位和责任追溯效率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645920"/>
            <a:ext cx="960120" cy="73152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人工创建任务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89888" y="182880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1645920"/>
            <a:ext cx="960120" cy="73152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向 AI 下达指令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82880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42032" y="1645920"/>
            <a:ext cx="960120" cy="73152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执行过程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6432" y="182880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75304" y="1645920"/>
            <a:ext cx="960120" cy="73152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75304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21024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审查意见与投票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9704" y="182880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08576" y="1645920"/>
            <a:ext cx="960120" cy="73152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54296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驳回反馈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22976" y="182880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41848" y="1645920"/>
            <a:ext cx="960120" cy="73152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41848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87568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代码合并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56248" y="182880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75120" y="1645920"/>
            <a:ext cx="960120" cy="73152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冲突处理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182880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08392" y="1645920"/>
            <a:ext cx="960120" cy="73152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08392" y="17190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54112" y="19385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版本回退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2926080"/>
            <a:ext cx="78638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2926080"/>
            <a:ext cx="54864" cy="164592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可还原完整变更过程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谁提出需求</a:t>
            </a: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→  </a:t>
            </a:r>
            <a:r>
              <a:rPr lang="en-US" sz="1200" b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执行了什么</a:t>
            </a: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→  </a:t>
            </a:r>
            <a:r>
              <a:rPr lang="en-US" sz="1200" b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发现了哪些风险</a:t>
            </a: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→  </a:t>
            </a:r>
            <a:r>
              <a:rPr lang="en-US" sz="1200" b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谁作出审批</a:t>
            </a: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→  </a:t>
            </a:r>
            <a:r>
              <a:rPr lang="en-US" sz="1200" b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最终产生了什么影响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通过责任链可以快速定位问题、追溯责任，满足银行审计合规要求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创新点 5：四层经验记忆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同类问题被驳回后保存经验，后续任务主动规避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solidFill>
            <a:srgbClr val="E8EDF5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280160"/>
            <a:ext cx="54864" cy="59436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2801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5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任务记忆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1280160"/>
            <a:ext cx="182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当前任务的上下文、进度、错误和决策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1444752"/>
            <a:ext cx="640080" cy="365760"/>
          </a:xfrm>
          <a:prstGeom prst="rect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444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单次任务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947672"/>
            <a:ext cx="3840480" cy="59436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947672"/>
            <a:ext cx="54864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94767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记忆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947672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某个 Agent 的历史经验和常见错误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2112264"/>
            <a:ext cx="64008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1122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单个 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2615184"/>
            <a:ext cx="4937760" cy="594360"/>
          </a:xfrm>
          <a:prstGeom prst="rect">
            <a:avLst/>
          </a:prstGeom>
          <a:solidFill>
            <a:srgbClr val="FEF9E7"/>
          </a:solidFill>
          <a:ln w="12700">
            <a:solidFill>
              <a:srgbClr val="B890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615184"/>
            <a:ext cx="54864" cy="594360"/>
          </a:xfrm>
          <a:prstGeom prst="rect">
            <a:avLst/>
          </a:prstGeom>
          <a:solidFill>
            <a:srgbClr val="B8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615184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项目记忆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2615184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项目架构、历史审查结论和项目规范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779776"/>
            <a:ext cx="640080" cy="365760"/>
          </a:xfrm>
          <a:prstGeom prst="rect">
            <a:avLst/>
          </a:prstGeom>
          <a:solidFill>
            <a:srgbClr val="B89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77977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单个项目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3282696"/>
            <a:ext cx="6035040" cy="594360"/>
          </a:xfrm>
          <a:prstGeom prst="rect">
            <a:avLst/>
          </a:prstGeom>
          <a:solidFill>
            <a:srgbClr val="E8EDF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3282696"/>
            <a:ext cx="54864" cy="59436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3282696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全局记忆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3282696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可跨项目复用的通用安全与开发经验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3447288"/>
            <a:ext cx="640080" cy="36576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44728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所有项目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EF9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9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示例：某次代码因「敏感信息写入日志」被驳回 → 平台保存经验 → 后续相似任务中 Agent 主动规避同类问题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创新点 6：可回退的变更闭环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 → 审查 → 审批 → 合并 → 追溯 → 恢复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23160" y="1051560"/>
            <a:ext cx="1005840" cy="10058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23160" y="11887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生成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生成代码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11000" y="1737360"/>
            <a:ext cx="1005840" cy="10058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000" y="1874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审查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3840" y="21945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 Agent 交叉检查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000" y="3108960"/>
            <a:ext cx="1005840" cy="1005840"/>
          </a:xfrm>
          <a:prstGeom prst="ellipse">
            <a:avLst/>
          </a:prstGeom>
          <a:solidFill>
            <a:srgbClr val="B8902F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000" y="32461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审批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3840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多人复核决策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3794760"/>
            <a:ext cx="1005840" cy="1005840"/>
          </a:xfrm>
          <a:prstGeom prst="ellipse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3931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合并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42519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通过后合并到主分支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35320" y="3108960"/>
            <a:ext cx="1005840" cy="10058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35320" y="32461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追溯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8160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责任链定位问题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35320" y="1737360"/>
            <a:ext cx="1005840" cy="10058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33333"/>
            </a:solidFill>
            <a:prstDash val="solid"/>
          </a:ln>
          <a:effectLst>
            <a:outerShdw blurRad="50800" dist="1905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35320" y="1874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恢复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8160" y="21945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版本回退恢复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42316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4231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0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闭环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1325880"/>
            <a:ext cx="34747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1325880"/>
            <a:ext cx="54864" cy="32004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5087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出现问题时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77840" y="2103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1031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2057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定位对应任务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77840" y="267004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6700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26243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查看当时的指令、审查和审批记录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77840" y="323697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23697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1912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找到受影响版本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577840" y="3803904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8039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375818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执行可审计的版本回退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84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与普通 AI 编程工具的区别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645920" cy="365760"/>
          </a:xfrm>
          <a:prstGeom prst="rect">
            <a:avLst/>
          </a:prstGeom>
          <a:solidFill>
            <a:srgbClr val="1B284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对比维度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234440"/>
            <a:ext cx="3291840" cy="365760"/>
          </a:xfrm>
          <a:prstGeom prst="rect">
            <a:avLst/>
          </a:prstGeom>
          <a:solidFill>
            <a:srgbClr val="1B284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234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普通 AI 编程工具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234440"/>
            <a:ext cx="3291840" cy="365760"/>
          </a:xfrm>
          <a:prstGeom prst="rect">
            <a:avLst/>
          </a:prstGeom>
          <a:solidFill>
            <a:srgbClr val="1B284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2344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AgentCollab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164592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002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主要目标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03120" y="160020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提高个人编码速度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0" y="160020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60020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提升团队效率并控制 AI 风险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9659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执行方式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03120" y="196596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19659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单一助手生成代码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94960" y="196596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96596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9659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 Agent 分工协作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64592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33172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代码隔离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33172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23317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取决于使用者操作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233172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233172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3317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每任务独立分支和工作树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269748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6974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安全审查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103120" y="269748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通常需人工额外完成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94960" y="269748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94960" y="269748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独立安全 Agent 自动审查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063240"/>
            <a:ext cx="164592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06324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人工审批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03120" y="306324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3063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通常没有完整流程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94960" y="306324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4960" y="306324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3063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多人投票、驳回反馈、人工决策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342900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4290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审计能力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03120" y="342900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34290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对话和代码记录分散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94960" y="342900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94960" y="342900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34290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指令到影响形成完整责任链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3794760"/>
            <a:ext cx="164592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379476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经验复用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103120" y="379476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37947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依赖个人上下文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94960" y="3794760"/>
            <a:ext cx="3291840" cy="365760"/>
          </a:xfrm>
          <a:prstGeom prst="rect">
            <a:avLst/>
          </a:prstGeom>
          <a:solidFill>
            <a:srgbClr val="E8EDF5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94960" y="379476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37947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四层记忆和技能仓库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" y="416052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416052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故障恢复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103120" y="416052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0" y="41605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依赖外部版本工具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394960" y="4160520"/>
            <a:ext cx="32918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94960" y="4160520"/>
            <a:ext cx="457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0" y="41605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内置版本记录与回退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57200" y="4636008"/>
            <a:ext cx="8229600" cy="457200"/>
          </a:xfrm>
          <a:prstGeom prst="rect">
            <a:avLst/>
          </a:prstGeom>
          <a:solidFill>
            <a:srgbClr val="1B2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46360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创新的重点不是模型数量，而是把 AI 能力嵌入银行可控的研发治理流程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D5A80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总结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AgentCollab 不是一个「更会写代码的 AI」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而是一套让 AI 能够在银行研发治理框架下安全工作的协作机制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2468880" cy="1371600"/>
          </a:xfrm>
          <a:prstGeom prst="rect">
            <a:avLst/>
          </a:prstGeom>
          <a:solidFill>
            <a:srgbClr val="121B3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34640"/>
            <a:ext cx="24688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可控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任务隔离 + 安全门禁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人工审批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834640"/>
            <a:ext cx="2468880" cy="1371600"/>
          </a:xfrm>
          <a:prstGeom prst="rect">
            <a:avLst/>
          </a:prstGeom>
          <a:solidFill>
            <a:srgbClr val="121B3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834640"/>
            <a:ext cx="24688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017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可审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全链路责任链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四层经验记忆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468880" cy="1371600"/>
          </a:xfrm>
          <a:prstGeom prst="rect">
            <a:avLst/>
          </a:prstGeom>
          <a:solidFill>
            <a:srgbClr val="121B3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834640"/>
            <a:ext cx="24688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017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可回退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4747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版本记录 + 责任追溯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一键恢复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406525" y="7543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35000" y="1581150"/>
          <a:ext cx="7863840" cy="1645920"/>
        </p:xfrm>
        <a:graphic>
          <a:graphicData uri="http://schemas.openxmlformats.org/drawingml/2006/table">
            <a:tbl>
              <a:tblPr/>
              <a:tblGrid>
                <a:gridCol w="252095"/>
                <a:gridCol w="2415540"/>
                <a:gridCol w="1413510"/>
                <a:gridCol w="3782695"/>
              </a:tblGrid>
              <a:tr h="0"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#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痛点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创新方案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落地情况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过程治理缺失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—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通用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AI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工具无法回答合规六问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全链路审计责任链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✅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审计中心面板、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AuditLogView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、责任链追溯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人工审查低效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—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逐行检查耗时且依赖个人状态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多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Agent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并行审查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汇总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✅ 4-Agent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流水线（生成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审查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安全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→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汇总）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规范靠人记忆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—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知识散落、人走经验丢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技能仓库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四层记忆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✅ 6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个银行规范技能包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 ChromaDB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分层记忆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AI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不可控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—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直接操作主分支风险大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隔离工作树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三道关卡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✅ Git worktree + 7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项门禁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 Agent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审查 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人工投票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责任链不完整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 —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多系统割裂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一体化审计面板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✅ 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版本历史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一键回退</a:t>
                      </a:r>
                      <a:r>
                        <a:rPr lang="en-US" altLang="zh-CN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完整时间线</a:t>
                      </a:r>
                      <a:endParaRPr lang="zh-CN" altLang="en-US" sz="11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203" marR="11203" marT="11203" marB="11203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2656</Words>
  <Application>WPS 演示</Application>
  <PresentationFormat>On-screen Show (16:9)</PresentationFormat>
  <Paragraphs>589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微软雅黑</vt:lpstr>
      <vt:lpstr>Arial Unicode MS</vt:lpstr>
      <vt:lpstr>等线</vt:lpstr>
      <vt:lpstr>-apple-system</vt:lpstr>
      <vt:lpstr>Segoe Print</vt:lpstr>
      <vt:lpstr>Microsoft JhengHei UI</vt:lpstr>
      <vt:lpstr>MS Gothic</vt:lpstr>
      <vt:lpstr>Noto Sans SC Light</vt:lpstr>
      <vt:lpstr>SimSun-ExtG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AgentCollab 银行创新项目答辩</dc:title>
  <dc:creator>AgentCollab Team</dc:creator>
  <dc:subject>PptxGenJS Presentation</dc:subject>
  <cp:lastModifiedBy>33017</cp:lastModifiedBy>
  <cp:revision>2</cp:revision>
  <dcterms:created xsi:type="dcterms:W3CDTF">2026-07-20T03:00:00Z</dcterms:created>
  <dcterms:modified xsi:type="dcterms:W3CDTF">2026-07-22T05:41:00Z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2052-12.1.0.26886</vt:lpwstr>
  </property>
  <property fmtid="{D5CDD505-2E9C-101B-9397-08002B2CF9AE}" pid="3" name="ICV">
    <vt:lpwstr>18C4EF1FCAD94BACBE21A7C652BAB00A_12</vt:lpwstr>
  </property>
</Properties>
</file>