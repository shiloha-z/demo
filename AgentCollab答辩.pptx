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8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3D5A80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743200"/>
            <a:ext cx="2743200" cy="2743200"/>
          </a:xfrm>
          <a:prstGeom prst="ellipse">
            <a:avLst/>
          </a:prstGeom>
          <a:solidFill>
            <a:srgbClr val="D4A843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AgentCollab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面向银行研发的可控 AI 协作治理平台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834640"/>
            <a:ext cx="2286000" cy="27432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017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AI 提升研发效率，同时确保每一次修改可控、可审、可追溯、可回退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银行创新项目答辩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8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通用 AI 编程工具进入银行研发场景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 6 个问题，传统工具无法回答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931920" cy="86868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72768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3716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谁向 AI 提出了什么要求？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3931920" cy="86868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624328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4231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查看和修改了哪些文件？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3931920" cy="86868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675888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34747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为什么做出这项修改？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1371600"/>
            <a:ext cx="3931920" cy="86868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937760" y="1572768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532120" y="13716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修改经过了哪些安全检查？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2423160"/>
            <a:ext cx="3931920" cy="86868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2624328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532120" y="24231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谁审查并批准了这项变更？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3931920" cy="86868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3675888"/>
            <a:ext cx="457200" cy="45720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532120" y="34747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出现问题时能否快速定位和恢复？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0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如果无法回答上述问题，AI 生成的代码就很难直接进入银行研发流程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银行研发场景中的五大核心痛点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34440"/>
            <a:ext cx="1572768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20624" y="1234440"/>
            <a:ext cx="1572768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" y="1463040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12064" y="20574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过程治理缺失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78408" y="2560320"/>
            <a:ext cx="4572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" y="2697480"/>
            <a:ext cx="129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 AI 工具关注效率，缺少指令记录、执行追踪和审批留痕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103120" y="1234440"/>
            <a:ext cx="1572768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03120" y="1234440"/>
            <a:ext cx="1572768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03120" y="1463040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94560" y="20574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审查效率较低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660904" y="2560320"/>
            <a:ext cx="4572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697480"/>
            <a:ext cx="129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人工逐行检查，重复劳动多，质量受个人经验影响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85616" y="1234440"/>
            <a:ext cx="1572768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85616" y="1234440"/>
            <a:ext cx="1572768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85616" y="1463040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877056" y="20574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安全规范散落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343400" y="2560320"/>
            <a:ext cx="4572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22776" y="2697480"/>
            <a:ext cx="129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制度文件、历史缺陷、个人经验难以统一复用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68112" y="1234440"/>
            <a:ext cx="1572768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68112" y="1234440"/>
            <a:ext cx="1572768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68112" y="1463040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5559552" y="20574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修改不可控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025896" y="2560320"/>
            <a:ext cx="4572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05272" y="2697480"/>
            <a:ext cx="129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直接改主分支，多任务覆盖，未审查代码进入正式版本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50608" y="1234440"/>
            <a:ext cx="1572768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50608" y="1234440"/>
            <a:ext cx="1572768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0608" y="1463040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7242048" y="20574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责任链断裂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08392" y="2560320"/>
            <a:ext cx="4572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87768" y="2697480"/>
            <a:ext cx="129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需求、代码、审查、审批分散在不同系统，难以追溯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痛点详解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人工审查效率低 × 安全规范依赖个人记忆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54864" cy="329184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人工代码审查效率较低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920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重复性检查耗费大量时间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51460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423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审查质量受个人经验影响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926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安全问题可能被遗漏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52044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429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多人审查意见难以统一汇总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931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项目规模扩大后审查压力持续增加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23444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234440"/>
            <a:ext cx="54864" cy="329184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安全规范依赖个人记忆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银行内部的安全知识散落在多处，难以统一复用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2240280"/>
            <a:ext cx="320040" cy="320040"/>
          </a:xfrm>
          <a:prstGeom prst="rect">
            <a:avLst/>
          </a:prstGeom>
          <a:solidFill>
            <a:srgbClr val="FDED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240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94960" y="2240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制度文件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37760" y="2679192"/>
            <a:ext cx="320040" cy="320040"/>
          </a:xfrm>
          <a:prstGeom prst="rect">
            <a:avLst/>
          </a:prstGeom>
          <a:solidFill>
            <a:srgbClr val="FDED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679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94960" y="26791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项目文档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37760" y="3118104"/>
            <a:ext cx="320040" cy="320040"/>
          </a:xfrm>
          <a:prstGeom prst="rect">
            <a:avLst/>
          </a:prstGeom>
          <a:solidFill>
            <a:srgbClr val="FDED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1181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94960" y="3118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历史缺陷记录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937760" y="3557016"/>
            <a:ext cx="320040" cy="320040"/>
          </a:xfrm>
          <a:prstGeom prst="rect">
            <a:avLst/>
          </a:prstGeom>
          <a:solidFill>
            <a:srgbClr val="FDED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35570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94960" y="35570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审查人员个人经验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937760" y="3995928"/>
            <a:ext cx="320040" cy="320040"/>
          </a:xfrm>
          <a:prstGeom prst="rect">
            <a:avLst/>
          </a:prstGeom>
          <a:solidFill>
            <a:srgbClr val="FDED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7760" y="39959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94960" y="3995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聊天记录和会议纪要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9204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新员工难以快速掌握，同类问题在不同项目中重复出现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痛点详解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修改不可控 × 变更责任链不完整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54864" cy="329184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修改代码存在不可控风险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如果 AI 可以直接修改主分支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194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多个任务相互覆盖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未审查代码进入正式版本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20040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错误修改影响其他开发人员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安全问题随代码一同发布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411480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出现故障时难以恢复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123444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234440"/>
            <a:ext cx="54864" cy="329184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变更责任链不完整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传统工具数据分散在不同系统中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331720"/>
            <a:ext cx="640080" cy="365760"/>
          </a:xfrm>
          <a:prstGeom prst="rect">
            <a:avLst/>
          </a:prstGeom>
          <a:solidFill>
            <a:srgbClr val="FDEDEC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2331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谁提出需求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95544" y="23317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05272" y="2331720"/>
            <a:ext cx="640080" cy="365760"/>
          </a:xfrm>
          <a:prstGeom prst="rect">
            <a:avLst/>
          </a:prstGeom>
          <a:solidFill>
            <a:srgbClr val="FDEDEC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05272" y="2331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执行什么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08776" y="23317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18504" y="2331720"/>
            <a:ext cx="640080" cy="365760"/>
          </a:xfrm>
          <a:prstGeom prst="rect">
            <a:avLst/>
          </a:prstGeom>
          <a:solidFill>
            <a:srgbClr val="FDEDEC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18504" y="2331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发现哪些风险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22008" y="23317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031736" y="2331720"/>
            <a:ext cx="640080" cy="365760"/>
          </a:xfrm>
          <a:prstGeom prst="rect">
            <a:avLst/>
          </a:prstGeom>
          <a:solidFill>
            <a:srgbClr val="FDEDEC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31736" y="2331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谁作审批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635240" y="233172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744968" y="2331720"/>
            <a:ext cx="640080" cy="365760"/>
          </a:xfrm>
          <a:prstGeom prst="rect">
            <a:avLst/>
          </a:prstGeom>
          <a:solidFill>
            <a:srgbClr val="FDEDEC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44968" y="2331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产生什么影响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9204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难以快速还原完整变更过程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9204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问题定位和责任追溯效率低下，审计合规难度大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8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我们的解决方案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AI 在银行可控的研发治理框架下安全工作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1097280" cy="237744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63040"/>
            <a:ext cx="109728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737360"/>
            <a:ext cx="548640" cy="54864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创建任务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93192" y="2834640"/>
            <a:ext cx="950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人工提交研发需求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399032" y="24688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554480" y="1463040"/>
            <a:ext cx="1097280" cy="237744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554480" y="1463040"/>
            <a:ext cx="1097280" cy="54864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0" y="1737360"/>
            <a:ext cx="548640" cy="5486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288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0020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27632" y="2834640"/>
            <a:ext cx="950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分析并生成代码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33472" y="24688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788920" y="1463040"/>
            <a:ext cx="1097280" cy="237744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88920" y="1463040"/>
            <a:ext cx="1097280" cy="54864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63240" y="1737360"/>
            <a:ext cx="548640" cy="5486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63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83464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代码审查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62072" y="2834640"/>
            <a:ext cx="950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 + 安全双重检查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867912" y="24688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023360" y="1463040"/>
            <a:ext cx="1097280" cy="237744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023360" y="1463040"/>
            <a:ext cx="1097280" cy="54864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0" y="1737360"/>
            <a:ext cx="548640" cy="5486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06908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安全门禁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96512" y="2834640"/>
            <a:ext cx="950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确定性工具自动扫描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02352" y="24688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257800" y="1463040"/>
            <a:ext cx="1097280" cy="237744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57800" y="1463040"/>
            <a:ext cx="1097280" cy="54864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32120" y="1737360"/>
            <a:ext cx="548640" cy="5486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321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30352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多人复核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330952" y="2834640"/>
            <a:ext cx="950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经办—复核分离决策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36792" y="24688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92240" y="1463040"/>
            <a:ext cx="1097280" cy="237744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92240" y="1463040"/>
            <a:ext cx="1097280" cy="54864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0" y="1737360"/>
            <a:ext cx="548640" cy="5486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53796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合并记录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65392" y="2834640"/>
            <a:ext cx="950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审批后合并并归档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571232" y="24688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726680" y="1463040"/>
            <a:ext cx="1097280" cy="2377440"/>
          </a:xfrm>
          <a:prstGeom prst="rect">
            <a:avLst/>
          </a:prstGeom>
          <a:solidFill>
            <a:srgbClr val="121B33"/>
          </a:solidFill>
          <a:ln w="635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7726680" y="1463040"/>
            <a:ext cx="1097280" cy="54864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01000" y="1737360"/>
            <a:ext cx="548640" cy="5486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010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7772400" y="2423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审计追溯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799832" y="2834640"/>
            <a:ext cx="950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全链路可查可回退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核心不是让 AI 自动写代码，而是把 AI 能力嵌入银行可控的研发治理流程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创新点 1：多 Agent 职责分离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不是让一个模型同时写代码并给自己打分，而是通过职责分离形成交叉检查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92024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1920240" cy="54864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691640"/>
            <a:ext cx="640080" cy="411480"/>
          </a:xfrm>
          <a:prstGeom prst="rect">
            <a:avLst/>
          </a:prstGeom>
          <a:solidFill>
            <a:srgbClr val="E8E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91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5A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 Agent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分析任务并生成或修改代码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417320"/>
            <a:ext cx="192024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417320"/>
            <a:ext cx="1920240" cy="54864"/>
          </a:xfrm>
          <a:prstGeom prst="rect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1691640"/>
            <a:ext cx="640080" cy="411480"/>
          </a:xfrm>
          <a:prstGeom prst="rect">
            <a:avLst/>
          </a:prstGeom>
          <a:solidFill>
            <a:srgbClr val="EAFA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0" y="1691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4320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代码审查 Agent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0" y="27889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检查逻辑、可读性、规范和潜在 Bug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417320"/>
            <a:ext cx="192024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417320"/>
            <a:ext cx="192024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1691640"/>
            <a:ext cx="640080" cy="411480"/>
          </a:xfrm>
          <a:prstGeom prst="rect">
            <a:avLst/>
          </a:prstGeom>
          <a:solidFill>
            <a:srgbClr val="FDED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691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4632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安全审查 Agent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27889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检查注入、越权、敏感信息和不安全配置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1417320"/>
            <a:ext cx="192024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66560" y="1417320"/>
            <a:ext cx="1920240" cy="54864"/>
          </a:xfrm>
          <a:prstGeom prst="rect">
            <a:avLst/>
          </a:prstGeom>
          <a:solidFill>
            <a:srgbClr val="B890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49440" y="1691640"/>
            <a:ext cx="640080" cy="411480"/>
          </a:xfrm>
          <a:prstGeom prst="rect">
            <a:avLst/>
          </a:prstGeom>
          <a:solidFill>
            <a:srgbClr val="FEF9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0" y="1691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0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4944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汇总 Agent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27889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汇总审查结论并按严重程度输出报告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solidFill>
            <a:srgbClr val="FEF9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069080"/>
            <a:ext cx="54864" cy="54864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B89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创新重点不是模型数量，而是通过职责分离让不同 Agent 从不同角度交叉检查，再由人工作出最终决定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创新点 2：AI 与人工协同决策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与银行业务中的「经办—复核」思想具有较高契合度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84048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25880"/>
            <a:ext cx="54864" cy="2377440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职责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91440" cy="914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生成代码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91440" cy="914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3957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检查逻辑与规范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71216"/>
            <a:ext cx="91440" cy="914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7797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扫描安全风险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255264"/>
            <a:ext cx="91440" cy="914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1638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汇总审查报告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639312"/>
            <a:ext cx="91440" cy="914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547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提供修改建议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20540" y="2080260"/>
            <a:ext cx="502920" cy="502920"/>
          </a:xfrm>
          <a:prstGeom prst="ellipse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20540" y="20802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46320" y="1325880"/>
            <a:ext cx="384048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1325880"/>
            <a:ext cx="54864" cy="2377440"/>
          </a:xfrm>
          <a:prstGeom prst="rect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人工职责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120640" y="2103120"/>
            <a:ext cx="91440" cy="9144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指定复核人员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120640" y="2487168"/>
            <a:ext cx="91440" cy="9144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0" y="23957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设置法定通过人数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120640" y="2871216"/>
            <a:ext cx="91440" cy="9144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27797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配置驳回一票否决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120640" y="3255264"/>
            <a:ext cx="91440" cy="9144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0" y="31638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填写驳回原因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120640" y="3639312"/>
            <a:ext cx="91440" cy="9144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0" y="3547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最终审批决策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未经人工批准的代码不能进入主分支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创新点 3：隔离式代码执行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每项任务都在独立 Git 分支和工作树中执行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3840480" cy="73152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97680" y="2743200"/>
            <a:ext cx="256032" cy="256032"/>
          </a:xfrm>
          <a:prstGeom prst="ellipse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主分支 master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1463040"/>
            <a:ext cx="2743200" cy="54864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1280160"/>
            <a:ext cx="2286000" cy="320040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280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 A 独立工作树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49040" y="1463040"/>
            <a:ext cx="54864" cy="1371600"/>
          </a:xfrm>
          <a:prstGeom prst="rect">
            <a:avLst/>
          </a:prstGeom>
          <a:solidFill>
            <a:srgbClr val="3D5A80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2057400"/>
            <a:ext cx="2743200" cy="54864"/>
          </a:xfrm>
          <a:prstGeom prst="rect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1874520"/>
            <a:ext cx="2286000" cy="320040"/>
          </a:xfrm>
          <a:prstGeom prst="rect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 B 独立工作树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23360" y="2057400"/>
            <a:ext cx="54864" cy="777240"/>
          </a:xfrm>
          <a:prstGeom prst="rect">
            <a:avLst/>
          </a:prstGeom>
          <a:solidFill>
            <a:srgbClr val="1E8449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45920" y="2651760"/>
            <a:ext cx="2743200" cy="54864"/>
          </a:xfrm>
          <a:prstGeom prst="rect">
            <a:avLst/>
          </a:prstGeom>
          <a:solidFill>
            <a:srgbClr val="B890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5920" y="2468880"/>
            <a:ext cx="2286000" cy="320040"/>
          </a:xfrm>
          <a:prstGeom prst="rect">
            <a:avLst/>
          </a:prstGeom>
          <a:solidFill>
            <a:srgbClr val="B890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 C 独立工作树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2651760"/>
            <a:ext cx="54864" cy="182880"/>
          </a:xfrm>
          <a:prstGeom prst="rect">
            <a:avLst/>
          </a:prstGeom>
          <a:solidFill>
            <a:srgbClr val="B8902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325880"/>
            <a:ext cx="3840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1325880"/>
            <a:ext cx="54864" cy="3200400"/>
          </a:xfrm>
          <a:prstGeom prst="rect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隔离带来的价值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120640" y="2148840"/>
            <a:ext cx="109728" cy="109728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不同任务互不影响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120640" y="2606040"/>
            <a:ext cx="109728" cy="109728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492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无法直接污染主分支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120640" y="3063240"/>
            <a:ext cx="109728" cy="109728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4924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人工可在合并前查看完整 Diff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120640" y="3520440"/>
            <a:ext cx="109728" cy="109728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4924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驳回后可继续在原分支修改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120640" y="3977640"/>
            <a:ext cx="109728" cy="109728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4924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任务终止后可清理对应分支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创新点 4：全链路审计责任链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串联一次变更的完整过程，提高问题定位和责任追溯效率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5488" y="1645920"/>
            <a:ext cx="960120" cy="731520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75488" y="171907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21208" y="1938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人工创建任务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89888" y="182880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508760" y="1645920"/>
            <a:ext cx="960120" cy="731520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08760" y="171907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554480" y="1938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 AI 下达指令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23160" y="182880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42032" y="1645920"/>
            <a:ext cx="960120" cy="731520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42032" y="171907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87752" y="1938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执行过程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56432" y="182880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75304" y="1645920"/>
            <a:ext cx="960120" cy="731520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75304" y="171907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21024" y="1938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审查意见与投票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9704" y="182880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08576" y="1645920"/>
            <a:ext cx="960120" cy="731520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608576" y="171907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54296" y="1938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驳回反馈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22976" y="182880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41848" y="1645920"/>
            <a:ext cx="960120" cy="731520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41848" y="171907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87568" y="1938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代码合并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56248" y="182880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675120" y="1645920"/>
            <a:ext cx="960120" cy="731520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75120" y="171907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20840" y="1938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冲突处理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589520" y="182880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08392" y="1645920"/>
            <a:ext cx="960120" cy="731520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708392" y="171907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754112" y="19385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版本回退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2926080"/>
            <a:ext cx="78638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2926080"/>
            <a:ext cx="54864" cy="164592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可还原完整变更过程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9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谁提出需求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200" b="1" dirty="0">
                <a:solidFill>
                  <a:srgbClr val="B89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执行了什么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200" b="1" dirty="0">
                <a:solidFill>
                  <a:srgbClr val="B89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发现了哪些风险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200" b="1" dirty="0">
                <a:solidFill>
                  <a:srgbClr val="B89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谁作出审批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1200" b="1" dirty="0">
                <a:solidFill>
                  <a:srgbClr val="B89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最终产生了什么影响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通过责任链可以快速定位问题、追溯责任，满足银行审计合规要求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创新点 5：四层经验记忆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同类问题被驳回后保存经验，后续任务主动规避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0" y="1280160"/>
            <a:ext cx="2743200" cy="594360"/>
          </a:xfrm>
          <a:prstGeom prst="rect">
            <a:avLst/>
          </a:prstGeom>
          <a:solidFill>
            <a:srgbClr val="E8EDF5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0" y="1280160"/>
            <a:ext cx="54864" cy="594360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2801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任务记忆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0" y="1280160"/>
            <a:ext cx="-182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当前任务的上下文、进度、错误和决策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66360" y="1444752"/>
            <a:ext cx="640080" cy="365760"/>
          </a:xfrm>
          <a:prstGeom prst="rect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66360" y="14447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单次任务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51760" y="1947672"/>
            <a:ext cx="3840480" cy="59436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51760" y="1947672"/>
            <a:ext cx="54864" cy="594360"/>
          </a:xfrm>
          <a:prstGeom prst="rect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194767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记忆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947672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某个 Agent 的历史经验和常见错误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15000" y="2112264"/>
            <a:ext cx="640080" cy="365760"/>
          </a:xfrm>
          <a:prstGeom prst="rect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0" y="21122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单个 Agent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03120" y="2615184"/>
            <a:ext cx="4937760" cy="594360"/>
          </a:xfrm>
          <a:prstGeom prst="rect">
            <a:avLst/>
          </a:prstGeom>
          <a:solidFill>
            <a:srgbClr val="FEF9E7"/>
          </a:solidFill>
          <a:ln w="12700">
            <a:solidFill>
              <a:srgbClr val="B890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03120" y="2615184"/>
            <a:ext cx="54864" cy="594360"/>
          </a:xfrm>
          <a:prstGeom prst="rect">
            <a:avLst/>
          </a:prstGeom>
          <a:solidFill>
            <a:srgbClr val="B890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0" y="2615184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9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项目记忆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206240" y="261518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项目架构、历史审查结论和项目规范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2779776"/>
            <a:ext cx="640080" cy="365760"/>
          </a:xfrm>
          <a:prstGeom prst="rect">
            <a:avLst/>
          </a:prstGeom>
          <a:solidFill>
            <a:srgbClr val="B890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27797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单个项目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554480" y="3282696"/>
            <a:ext cx="6035040" cy="594360"/>
          </a:xfrm>
          <a:prstGeom prst="rect">
            <a:avLst/>
          </a:prstGeom>
          <a:solidFill>
            <a:srgbClr val="E8EDF5"/>
          </a:solidFill>
          <a:ln w="12700">
            <a:solidFill>
              <a:srgbClr val="1B28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4480" y="3282696"/>
            <a:ext cx="54864" cy="594360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37360" y="328269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全局记忆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0" y="3282696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可跨项目复用的通用安全与开发经验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12280" y="3447288"/>
            <a:ext cx="640080" cy="365760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34472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所有项目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EF9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114800"/>
            <a:ext cx="54864" cy="50292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B89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示例：某次代码因「敏感信息写入日志」被驳回 → 平台保存经验 → 后续相似任务中 Agent 主动规避同类问题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创新点 6：可回退的变更闭环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 → 审查 → 审批 → 合并 → 追溯 → 恢复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423160" y="1051560"/>
            <a:ext cx="1005840" cy="10058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423160" y="11887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5087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生成代码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11000" y="1737360"/>
            <a:ext cx="1005840" cy="100584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11000" y="18745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审查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384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 Agent 交叉检查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11000" y="3108960"/>
            <a:ext cx="1005840" cy="1005840"/>
          </a:xfrm>
          <a:prstGeom prst="ellipse">
            <a:avLst/>
          </a:prstGeom>
          <a:solidFill>
            <a:srgbClr val="B8902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11000" y="32461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审批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3840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多人复核决策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23160" y="3794760"/>
            <a:ext cx="1005840" cy="1005840"/>
          </a:xfrm>
          <a:prstGeom prst="ellipse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23160" y="3931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合并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4251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通过后合并到主分支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235320" y="3108960"/>
            <a:ext cx="1005840" cy="10058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235320" y="32461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追溯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8160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责任链定位问题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35320" y="1737360"/>
            <a:ext cx="1005840" cy="100584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235320" y="18745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恢复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816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版本回退恢复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23160" y="24231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4A8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2316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0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闭环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303520" y="1325880"/>
            <a:ext cx="34747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03520" y="1325880"/>
            <a:ext cx="54864" cy="32004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出现问题时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577840" y="2103120"/>
            <a:ext cx="256032" cy="25603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77840" y="21031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定位对应任务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577840" y="2670048"/>
            <a:ext cx="256032" cy="25603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2670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43600" y="262432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查看当时的指令、审查和审批记录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577840" y="3236976"/>
            <a:ext cx="256032" cy="25603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3236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43600" y="31912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找到受影响版本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577840" y="3803904"/>
            <a:ext cx="256032" cy="25603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38039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0" y="37581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执行可审计的版本回退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8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与普通 AI 编程工具的区别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645920" cy="365760"/>
          </a:xfrm>
          <a:prstGeom prst="rect">
            <a:avLst/>
          </a:prstGeom>
          <a:solidFill>
            <a:srgbClr val="1B284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对比维度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03120" y="1234440"/>
            <a:ext cx="3291840" cy="365760"/>
          </a:xfrm>
          <a:prstGeom prst="rect">
            <a:avLst/>
          </a:prstGeom>
          <a:solidFill>
            <a:srgbClr val="1B284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234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普通 AI 编程工具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394960" y="1234440"/>
            <a:ext cx="3291840" cy="365760"/>
          </a:xfrm>
          <a:prstGeom prst="rect">
            <a:avLst/>
          </a:prstGeom>
          <a:solidFill>
            <a:srgbClr val="1B284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0" y="1234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AgentCollab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164592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00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主要目标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03120" y="1600200"/>
            <a:ext cx="329184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0" y="16002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提高个人编码速度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94960" y="1600200"/>
            <a:ext cx="329184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94960" y="1600200"/>
            <a:ext cx="45720" cy="36576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16002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提升团队效率并控制 AI 风险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1965960"/>
            <a:ext cx="16459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1965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执行方式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03120" y="1965960"/>
            <a:ext cx="3291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单一助手生成代码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394960" y="1965960"/>
            <a:ext cx="3291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94960" y="1965960"/>
            <a:ext cx="45720" cy="36576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 Agent 分工协作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2331720"/>
            <a:ext cx="164592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2331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代码隔离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331720"/>
            <a:ext cx="329184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0" y="23317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取决于使用者操作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394960" y="2331720"/>
            <a:ext cx="329184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94960" y="2331720"/>
            <a:ext cx="45720" cy="36576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77840" y="23317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每任务独立分支和工作树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2697480"/>
            <a:ext cx="16459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26974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安全审查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103120" y="2697480"/>
            <a:ext cx="3291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0" y="26974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通常需人工额外完成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94960" y="2697480"/>
            <a:ext cx="3291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94960" y="2697480"/>
            <a:ext cx="45720" cy="36576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77840" y="26974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独立安全 Agent 自动审查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3063240"/>
            <a:ext cx="164592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30632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人工审批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103120" y="3063240"/>
            <a:ext cx="329184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0" y="3063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通常没有完整流程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394960" y="3063240"/>
            <a:ext cx="329184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94960" y="3063240"/>
            <a:ext cx="45720" cy="36576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77840" y="30632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多人投票、驳回反馈、人工决策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57200" y="3429000"/>
            <a:ext cx="16459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34290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审计能力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103120" y="3429000"/>
            <a:ext cx="3291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对话和代码记录分散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394960" y="3429000"/>
            <a:ext cx="3291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394960" y="3429000"/>
            <a:ext cx="45720" cy="36576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7784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指令到影响形成完整责任链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794760"/>
            <a:ext cx="164592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9436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经验复用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3794760"/>
            <a:ext cx="329184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7947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依赖个人上下文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394960" y="3794760"/>
            <a:ext cx="3291840" cy="365760"/>
          </a:xfrm>
          <a:prstGeom prst="rect">
            <a:avLst/>
          </a:prstGeom>
          <a:solidFill>
            <a:srgbClr val="E8EDF5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94960" y="3794760"/>
            <a:ext cx="45720" cy="36576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77840" y="37947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四层记忆和技能仓库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457200" y="4160520"/>
            <a:ext cx="16459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360" y="41605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故障恢复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2103120" y="4160520"/>
            <a:ext cx="3291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286000" y="4160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依赖外部版本工具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394960" y="4160520"/>
            <a:ext cx="3291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94960" y="4160520"/>
            <a:ext cx="45720" cy="36576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577840" y="4160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内置版本记录与回退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7200" y="4636008"/>
            <a:ext cx="8229600" cy="457200"/>
          </a:xfrm>
          <a:prstGeom prst="rect">
            <a:avLst/>
          </a:prstGeom>
          <a:solidFill>
            <a:srgbClr val="1B2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7200" y="4636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创新的重点不是模型数量，而是把 AI 能力嵌入银行可控的研发治理流程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8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3D5A80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AgentCollab 不是一个「更会写代码的 AI」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而是一套让 AI 能够在银行研发治理框架下安全工作的协作机制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2468880" cy="1371600"/>
          </a:xfrm>
          <a:prstGeom prst="rect">
            <a:avLst/>
          </a:prstGeom>
          <a:solidFill>
            <a:srgbClr val="121B33"/>
          </a:solidFill>
          <a:ln w="6350">
            <a:solidFill>
              <a:srgbClr val="D4A84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834640"/>
            <a:ext cx="246888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17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任务隔离 + 安全门禁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人工审批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2834640"/>
            <a:ext cx="2468880" cy="1371600"/>
          </a:xfrm>
          <a:prstGeom prst="rect">
            <a:avLst/>
          </a:prstGeom>
          <a:solidFill>
            <a:srgbClr val="121B33"/>
          </a:solidFill>
          <a:ln w="6350">
            <a:solidFill>
              <a:srgbClr val="D4A84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834640"/>
            <a:ext cx="246888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3017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6616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全链路责任链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四层经验记忆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2834640"/>
            <a:ext cx="2468880" cy="1371600"/>
          </a:xfrm>
          <a:prstGeom prst="rect">
            <a:avLst/>
          </a:prstGeom>
          <a:solidFill>
            <a:srgbClr val="121B33"/>
          </a:solidFill>
          <a:ln w="6350">
            <a:solidFill>
              <a:srgbClr val="D4A84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2834640"/>
            <a:ext cx="2468880" cy="54864"/>
          </a:xfrm>
          <a:prstGeom prst="rect">
            <a:avLst/>
          </a:prstGeom>
          <a:solidFill>
            <a:srgbClr val="D4A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017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可回退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版本记录 + 责任追溯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一键恢复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0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AgentCollab 银行创新项目答辩</dc:title>
  <dc:subject>PptxGenJS Presentation</dc:subject>
  <dc:creator>AgentCollab Team</dc:creator>
  <cp:lastModifiedBy>AgentCollab Team</cp:lastModifiedBy>
  <cp:revision>1</cp:revision>
  <dcterms:created xsi:type="dcterms:W3CDTF">2026-07-20T03:00:09Z</dcterms:created>
  <dcterms:modified xsi:type="dcterms:W3CDTF">2026-07-20T03:00:09Z</dcterms:modified>
</cp:coreProperties>
</file>